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1451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B2E9E"/>
        </a:solidFill>
        <a:effectLst/>
      </p:bgPr>
    </p:bg>
    <p:spTree>
      <p:nvGrpSpPr>
        <p:cNvPr id="1" name=""/>
        <p:cNvGrpSpPr/>
        <p:nvPr/>
      </p:nvGrpSpPr>
      <p:grpSpPr>
        <a:xfrm>
          <a:off x="0" y="0"/>
          <a:ext cx="0" cy="0"/>
          <a:chOff x="0" y="0"/>
          <a:chExt cx="0" cy="0"/>
        </a:xfrm>
      </p:grpSpPr>
      <p:sp>
        <p:nvSpPr>
          <p:cNvPr id="2" name="Text 0"/>
          <p:cNvSpPr/>
          <p:nvPr/>
        </p:nvSpPr>
        <p:spPr>
          <a:xfrm>
            <a:off x="640080" y="2103120"/>
            <a:ext cx="10972800" cy="914400"/>
          </a:xfrm>
          <a:prstGeom prst="rect">
            <a:avLst/>
          </a:prstGeom>
          <a:noFill/>
          <a:ln/>
        </p:spPr>
        <p:txBody>
          <a:bodyPr wrap="square" rtlCol="0" anchor="ctr"/>
          <a:lstStyle/>
          <a:p>
            <a:pPr marL="0" indent="0">
              <a:buNone/>
            </a:pPr>
            <a:r>
              <a:rPr lang="en-US" sz="4000" b="1" dirty="0">
                <a:solidFill>
                  <a:srgbClr val="FFFFFF"/>
                </a:solidFill>
              </a:rPr>
              <a:t>Bluestock MF Capstone Project</a:t>
            </a:r>
            <a:endParaRPr lang="en-US" sz="4000" dirty="0"/>
          </a:p>
        </p:txBody>
      </p:sp>
      <p:sp>
        <p:nvSpPr>
          <p:cNvPr id="3" name="Text 1"/>
          <p:cNvSpPr/>
          <p:nvPr/>
        </p:nvSpPr>
        <p:spPr>
          <a:xfrm>
            <a:off x="640080" y="3017520"/>
            <a:ext cx="10972800" cy="548640"/>
          </a:xfrm>
          <a:prstGeom prst="rect">
            <a:avLst/>
          </a:prstGeom>
          <a:noFill/>
          <a:ln/>
        </p:spPr>
        <p:txBody>
          <a:bodyPr wrap="square" rtlCol="0" anchor="ctr"/>
          <a:lstStyle/>
          <a:p>
            <a:pPr marL="0" indent="0">
              <a:buNone/>
            </a:pPr>
            <a:r>
              <a:rPr lang="en-US" sz="1800" dirty="0">
                <a:solidFill>
                  <a:srgbClr val="FFFFFF"/>
                </a:solidFill>
              </a:rPr>
              <a:t>Mutual Fund Data Analysis - ETL, EDA, and Power BI Dashboard</a:t>
            </a:r>
            <a:endParaRPr lang="en-US" sz="1800" dirty="0"/>
          </a:p>
        </p:txBody>
      </p:sp>
      <p:sp>
        <p:nvSpPr>
          <p:cNvPr id="4" name="Text 2"/>
          <p:cNvSpPr/>
          <p:nvPr/>
        </p:nvSpPr>
        <p:spPr>
          <a:xfrm>
            <a:off x="640080" y="4206240"/>
            <a:ext cx="5486400" cy="365760"/>
          </a:xfrm>
          <a:prstGeom prst="rect">
            <a:avLst/>
          </a:prstGeom>
          <a:noFill/>
          <a:ln/>
        </p:spPr>
        <p:txBody>
          <a:bodyPr wrap="square" rtlCol="0" anchor="ctr"/>
          <a:lstStyle/>
          <a:p>
            <a:pPr marL="0" indent="0">
              <a:buNone/>
            </a:pPr>
            <a:r>
              <a:rPr lang="en-US" sz="1400" dirty="0">
                <a:solidFill>
                  <a:srgbClr val="FFFFFF"/>
                </a:solidFill>
              </a:rPr>
              <a:t>Anil Kankala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Problem &amp; Objective</a:t>
            </a:r>
            <a:endParaRPr lang="en-US" sz="2800" dirty="0"/>
          </a:p>
        </p:txBody>
      </p:sp>
      <p:sp>
        <p:nvSpPr>
          <p:cNvPr id="3" name="Text 1"/>
          <p:cNvSpPr/>
          <p:nvPr/>
        </p:nvSpPr>
        <p:spPr>
          <a:xfrm>
            <a:off x="640080" y="1280160"/>
            <a:ext cx="10789920" cy="457200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rPr>
              <a:t>Mutual fund data is scattered across multiple raw sources (fund details, NAV history, transactions, performance)</a:t>
            </a:r>
            <a:endParaRPr lang="en-US" sz="1600" dirty="0"/>
          </a:p>
          <a:p>
            <a:pPr marL="342900" indent="-342900">
              <a:spcAft>
                <a:spcPts val="1200"/>
              </a:spcAft>
              <a:buSzPct val="100000"/>
              <a:buChar char="•"/>
            </a:pPr>
            <a:r>
              <a:rPr lang="en-US" sz="1600" dirty="0">
                <a:solidFill>
                  <a:srgbClr val="1A1A1A"/>
                </a:solidFill>
              </a:rPr>
              <a:t>Objective: build an end-to-end pipeline to clean, structure, and analyze this data</a:t>
            </a:r>
            <a:endParaRPr lang="en-US" sz="1600" dirty="0"/>
          </a:p>
          <a:p>
            <a:pPr marL="342900" indent="-342900">
              <a:spcAft>
                <a:spcPts val="1200"/>
              </a:spcAft>
              <a:buSzPct val="100000"/>
              <a:buChar char="•"/>
            </a:pPr>
            <a:r>
              <a:rPr lang="en-US" sz="1600" dirty="0">
                <a:solidFill>
                  <a:srgbClr val="1A1A1A"/>
                </a:solidFill>
              </a:rPr>
              <a:t>Deliver an interactive dashboard for exploring fund performance, investor behavior, and market trends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Data Sources</a:t>
            </a:r>
            <a:endParaRPr lang="en-US" sz="2800" dirty="0"/>
          </a:p>
        </p:txBody>
      </p:sp>
      <p:sp>
        <p:nvSpPr>
          <p:cNvPr id="3" name="Text 1"/>
          <p:cNvSpPr/>
          <p:nvPr/>
        </p:nvSpPr>
        <p:spPr>
          <a:xfrm>
            <a:off x="640080" y="1280160"/>
            <a:ext cx="10789920" cy="457200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rPr>
              <a:t>10 raw CSV datasets: fund master, NAV history, AUM by fund house, SIP inflows, category inflows, folio counts, scheme performance, investor transactions, portfolio holdings, benchmark indices</a:t>
            </a:r>
            <a:endParaRPr lang="en-US" sz="1600" dirty="0"/>
          </a:p>
          <a:p>
            <a:pPr marL="342900" indent="-342900">
              <a:spcAft>
                <a:spcPts val="1200"/>
              </a:spcAft>
              <a:buSzPct val="100000"/>
              <a:buChar char="•"/>
            </a:pPr>
            <a:r>
              <a:rPr lang="en-US" sz="1600" dirty="0">
                <a:solidFill>
                  <a:srgbClr val="1A1A1A"/>
                </a:solidFill>
              </a:rPr>
              <a:t>Live NAV data fetched from the mfapi.in public API</a:t>
            </a:r>
            <a:endParaRPr lang="en-US" sz="1600" dirty="0"/>
          </a:p>
          <a:p>
            <a:pPr marL="342900" indent="-342900">
              <a:spcAft>
                <a:spcPts val="1200"/>
              </a:spcAft>
              <a:buSzPct val="100000"/>
              <a:buChar char="•"/>
            </a:pPr>
            <a:r>
              <a:rPr lang="en-US" sz="1600" dirty="0">
                <a:solidFill>
                  <a:srgbClr val="1A1A1A"/>
                </a:solidFill>
              </a:rPr>
              <a:t>Covers 40 mutual fund schemes across 10 fund houses, 2022-2025</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Architecture</a:t>
            </a:r>
            <a:endParaRPr lang="en-US" sz="2800" dirty="0"/>
          </a:p>
        </p:txBody>
      </p:sp>
      <p:sp>
        <p:nvSpPr>
          <p:cNvPr id="3" name="Text 1"/>
          <p:cNvSpPr/>
          <p:nvPr/>
        </p:nvSpPr>
        <p:spPr>
          <a:xfrm>
            <a:off x="640080" y="1280160"/>
            <a:ext cx="10789920" cy="457200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rPr>
              <a:t>Raw CSVs -&gt; Python (pandas) cleaning and validation</a:t>
            </a:r>
            <a:endParaRPr lang="en-US" sz="1600" dirty="0"/>
          </a:p>
          <a:p>
            <a:pPr marL="342900" indent="-342900">
              <a:spcAft>
                <a:spcPts val="1200"/>
              </a:spcAft>
              <a:buSzPct val="100000"/>
              <a:buChar char="•"/>
            </a:pPr>
            <a:r>
              <a:rPr lang="en-US" sz="1600" dirty="0">
                <a:solidFill>
                  <a:srgbClr val="1A1A1A"/>
                </a:solidFill>
              </a:rPr>
              <a:t>Cleaned data loaded into a SQLite star schema (dim_fund, dim_date, and 4 fact tables)</a:t>
            </a:r>
            <a:endParaRPr lang="en-US" sz="1600" dirty="0"/>
          </a:p>
          <a:p>
            <a:pPr marL="342900" indent="-342900">
              <a:spcAft>
                <a:spcPts val="1200"/>
              </a:spcAft>
              <a:buSzPct val="100000"/>
              <a:buChar char="•"/>
            </a:pPr>
            <a:r>
              <a:rPr lang="en-US" sz="1600" dirty="0">
                <a:solidFill>
                  <a:srgbClr val="1A1A1A"/>
                </a:solidFill>
              </a:rPr>
              <a:t>Exploratory analysis in Jupyter (matplotlib, seaborn, plotly)</a:t>
            </a:r>
            <a:endParaRPr lang="en-US" sz="1600" dirty="0"/>
          </a:p>
          <a:p>
            <a:pPr marL="342900" indent="-342900">
              <a:spcAft>
                <a:spcPts val="1200"/>
              </a:spcAft>
              <a:buSzPct val="100000"/>
              <a:buChar char="•"/>
            </a:pPr>
            <a:r>
              <a:rPr lang="en-US" sz="1600" dirty="0">
                <a:solidFill>
                  <a:srgbClr val="1A1A1A"/>
                </a:solidFill>
              </a:rPr>
              <a:t>Interactive dashboard built in Power BI, connected to the cleaned data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EDA Highlights - NAV &amp; AUM Trends</a:t>
            </a:r>
            <a:endParaRPr lang="en-US" sz="2800" dirty="0"/>
          </a:p>
        </p:txBody>
      </p:sp>
      <p:sp>
        <p:nvSpPr>
          <p:cNvPr id="3" name="Text 1"/>
          <p:cNvSpPr/>
          <p:nvPr/>
        </p:nvSpPr>
        <p:spPr>
          <a:xfrm>
            <a:off x="640080" y="1280160"/>
            <a:ext cx="10789920" cy="457200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rPr>
              <a:t>Daily NAV tracked for all 40 schemes across 2022-2025</a:t>
            </a:r>
            <a:endParaRPr lang="en-US" sz="1600" dirty="0"/>
          </a:p>
          <a:p>
            <a:pPr marL="342900" indent="-342900">
              <a:spcAft>
                <a:spcPts val="1200"/>
              </a:spcAft>
              <a:buSzPct val="100000"/>
              <a:buChar char="•"/>
            </a:pPr>
            <a:r>
              <a:rPr lang="en-US" sz="1600" dirty="0">
                <a:solidFill>
                  <a:srgbClr val="1A1A1A"/>
                </a:solidFill>
              </a:rPr>
              <a:t>AUM growth analyzed by fund house year over year</a:t>
            </a:r>
            <a:endParaRPr lang="en-US" sz="1600" dirty="0"/>
          </a:p>
          <a:p>
            <a:pPr marL="342900" indent="-342900">
              <a:spcAft>
                <a:spcPts val="1200"/>
              </a:spcAft>
              <a:buSzPct val="100000"/>
              <a:buChar char="•"/>
            </a:pPr>
            <a:r>
              <a:rPr lang="en-US" sz="1600" dirty="0">
                <a:solidFill>
                  <a:srgbClr val="1A1A1A"/>
                </a:solidFill>
              </a:rPr>
              <a:t>Industry AUM grew steadily from roughly Rs 3M Cr in 2022 to over Rs 6M Cr by 2025, with SBI Mutual Fund holding the largest share among all 10 fund houses, followed by ICICI Prudential and HDFC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EDA Highlights - Investors &amp; Sectors</a:t>
            </a:r>
            <a:endParaRPr lang="en-US" sz="2800" dirty="0"/>
          </a:p>
        </p:txBody>
      </p:sp>
      <p:sp>
        <p:nvSpPr>
          <p:cNvPr id="3" name="Text 1"/>
          <p:cNvSpPr/>
          <p:nvPr/>
        </p:nvSpPr>
        <p:spPr>
          <a:xfrm>
            <a:off x="640080" y="1280160"/>
            <a:ext cx="10789920" cy="457200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rPr>
              <a:t>Investor demographics analyzed by age group, gender, and geography</a:t>
            </a:r>
            <a:endParaRPr lang="en-US" sz="1600" dirty="0"/>
          </a:p>
          <a:p>
            <a:pPr marL="342900" indent="-342900">
              <a:spcAft>
                <a:spcPts val="1200"/>
              </a:spcAft>
              <a:buSzPct val="100000"/>
              <a:buChar char="•"/>
            </a:pPr>
            <a:r>
              <a:rPr lang="en-US" sz="1600" dirty="0">
                <a:solidFill>
                  <a:srgbClr val="1A1A1A"/>
                </a:solidFill>
              </a:rPr>
              <a:t>Sector allocation aggregated across equity fund holdings</a:t>
            </a:r>
            <a:endParaRPr lang="en-US" sz="1600" dirty="0"/>
          </a:p>
          <a:p>
            <a:pPr marL="342900" indent="-342900">
              <a:spcAft>
                <a:spcPts val="1200"/>
              </a:spcAft>
              <a:buSzPct val="100000"/>
              <a:buChar char="•"/>
            </a:pPr>
            <a:r>
              <a:rPr lang="en-US" sz="1600" dirty="0">
                <a:solidFill>
                  <a:srgbClr val="1A1A1A"/>
                </a:solidFill>
              </a:rPr>
              <a:t>Investors aged 26-35 contribute the highest average SIP amount of all age groups, with contributions declining steadily for older age brackets; Punjab, Tamil Nadu, and Madhya Pradesh lead in total transaction amount by state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Performance Metrics - Returns &amp; Risk</a:t>
            </a:r>
            <a:endParaRPr lang="en-US" sz="2800" dirty="0"/>
          </a:p>
        </p:txBody>
      </p:sp>
      <p:sp>
        <p:nvSpPr>
          <p:cNvPr id="3" name="Text 1"/>
          <p:cNvSpPr/>
          <p:nvPr/>
        </p:nvSpPr>
        <p:spPr>
          <a:xfrm>
            <a:off x="640080" y="1280160"/>
            <a:ext cx="10789920" cy="457200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rPr>
              <a:t>Return vs risk analyzed across all 40 schemes (1yr, 3yr, 5yr returns)</a:t>
            </a:r>
            <a:endParaRPr lang="en-US" sz="1600" dirty="0"/>
          </a:p>
          <a:p>
            <a:pPr marL="342900" indent="-342900">
              <a:spcAft>
                <a:spcPts val="1200"/>
              </a:spcAft>
              <a:buSzPct val="100000"/>
              <a:buChar char="•"/>
            </a:pPr>
            <a:r>
              <a:rPr lang="en-US" sz="1600" dirty="0">
                <a:solidFill>
                  <a:srgbClr val="1A1A1A"/>
                </a:solidFill>
              </a:rPr>
              <a:t>Risk-adjusted metrics: Sharpe ratio, Sortino ratio, standard deviation</a:t>
            </a:r>
            <a:endParaRPr lang="en-US" sz="1600" dirty="0"/>
          </a:p>
          <a:p>
            <a:pPr marL="342900" indent="-342900">
              <a:spcAft>
                <a:spcPts val="1200"/>
              </a:spcAft>
              <a:buSzPct val="100000"/>
              <a:buChar char="•"/>
            </a:pPr>
            <a:r>
              <a:rPr lang="en-US" sz="1600" dirty="0">
                <a:solidFill>
                  <a:srgbClr val="1A1A1A"/>
                </a:solidFill>
              </a:rPr>
              <a:t>[Check your fund scorecard table (Page 2 of the dashboard) for the highest Sharpe ratio and lowest expense ratio funds - name the top 2-3 here]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Performance Metrics - Correlation</a:t>
            </a:r>
            <a:endParaRPr lang="en-US" sz="2800" dirty="0"/>
          </a:p>
        </p:txBody>
      </p:sp>
      <p:sp>
        <p:nvSpPr>
          <p:cNvPr id="3" name="Text 1"/>
          <p:cNvSpPr/>
          <p:nvPr/>
        </p:nvSpPr>
        <p:spPr>
          <a:xfrm>
            <a:off x="640080" y="1280160"/>
            <a:ext cx="10789920" cy="457200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rPr>
              <a:t>Pairwise NAV return correlation computed across 10 selected funds</a:t>
            </a:r>
            <a:endParaRPr lang="en-US" sz="1600" dirty="0"/>
          </a:p>
          <a:p>
            <a:pPr marL="342900" indent="-342900">
              <a:spcAft>
                <a:spcPts val="1200"/>
              </a:spcAft>
              <a:buSzPct val="100000"/>
              <a:buChar char="•"/>
            </a:pPr>
            <a:r>
              <a:rPr lang="en-US" sz="1600" dirty="0">
                <a:solidFill>
                  <a:srgbClr val="1A1A1A"/>
                </a:solidFill>
              </a:rPr>
              <a:t>Helps identify diversification opportunities within a portfolio</a:t>
            </a:r>
            <a:endParaRPr lang="en-US" sz="1600" dirty="0"/>
          </a:p>
          <a:p>
            <a:pPr marL="342900" indent="-342900">
              <a:spcAft>
                <a:spcPts val="1200"/>
              </a:spcAft>
              <a:buSzPct val="100000"/>
              <a:buChar char="•"/>
            </a:pPr>
            <a:r>
              <a:rPr lang="en-US" sz="1600" dirty="0">
                <a:solidFill>
                  <a:srgbClr val="1A1A1A"/>
                </a:solidFill>
              </a:rPr>
              <a:t>[Check your correlation heatmap in EDA_Analysis.ipynb - note which fund pairs are highly correlated (limited diversification benefit) vs weakly correlated (good for diversification)]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Dashboard - Industry Overview</a:t>
            </a:r>
            <a:endParaRPr lang="en-US" sz="2800" dirty="0"/>
          </a:p>
        </p:txBody>
      </p:sp>
      <p:sp>
        <p:nvSpPr>
          <p:cNvPr id="3" name="Shape 1"/>
          <p:cNvSpPr/>
          <p:nvPr/>
        </p:nvSpPr>
        <p:spPr>
          <a:xfrm>
            <a:off x="731520" y="1280160"/>
            <a:ext cx="10698480" cy="5029200"/>
          </a:xfrm>
          <a:prstGeom prst="rect">
            <a:avLst/>
          </a:prstGeom>
          <a:solidFill>
            <a:srgbClr val="F2F2F2"/>
          </a:solidFill>
          <a:ln w="12700">
            <a:solidFill>
              <a:srgbClr val="CCCCCC"/>
            </a:solidFill>
            <a:prstDash val="solid"/>
          </a:ln>
        </p:spPr>
      </p:sp>
      <p:sp>
        <p:nvSpPr>
          <p:cNvPr id="5" name="Text 3"/>
          <p:cNvSpPr/>
          <p:nvPr/>
        </p:nvSpPr>
        <p:spPr>
          <a:xfrm>
            <a:off x="731520" y="4023360"/>
            <a:ext cx="10698480" cy="365760"/>
          </a:xfrm>
          <a:prstGeom prst="rect">
            <a:avLst/>
          </a:prstGeom>
          <a:noFill/>
          <a:ln/>
        </p:spPr>
        <p:txBody>
          <a:bodyPr wrap="square" rtlCol="0" anchor="ctr"/>
          <a:lstStyle/>
          <a:p>
            <a:pPr marL="0" indent="0" algn="ctr">
              <a:buNone/>
            </a:pPr>
            <a:r>
              <a:rPr lang="en-US" sz="1200" i="1" dirty="0">
                <a:solidFill>
                  <a:srgbClr val="666666"/>
                </a:solidFill>
              </a:rPr>
              <a:t>Page 1: KPIs, AUM trend, AUM by AMC</a:t>
            </a:r>
            <a:endParaRPr lang="en-US" sz="1200" dirty="0"/>
          </a:p>
        </p:txBody>
      </p:sp>
      <p:pic>
        <p:nvPicPr>
          <p:cNvPr id="7" name="Picture 6">
            <a:extLst>
              <a:ext uri="{FF2B5EF4-FFF2-40B4-BE49-F238E27FC236}">
                <a16:creationId xmlns:a16="http://schemas.microsoft.com/office/drawing/2014/main" id="{9F7EC2B9-1C95-1FF8-D740-0BF98F723EF5}"/>
              </a:ext>
            </a:extLst>
          </p:cNvPr>
          <p:cNvPicPr>
            <a:picLocks noChangeAspect="1"/>
          </p:cNvPicPr>
          <p:nvPr/>
        </p:nvPicPr>
        <p:blipFill>
          <a:blip r:embed="rId3"/>
          <a:stretch>
            <a:fillRect/>
          </a:stretch>
        </p:blipFill>
        <p:spPr>
          <a:xfrm>
            <a:off x="548641" y="1187936"/>
            <a:ext cx="10881360" cy="51214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Dashboard - Fund Performance</a:t>
            </a:r>
            <a:endParaRPr lang="en-US" sz="2800" dirty="0"/>
          </a:p>
        </p:txBody>
      </p:sp>
      <p:sp>
        <p:nvSpPr>
          <p:cNvPr id="3" name="Shape 1"/>
          <p:cNvSpPr/>
          <p:nvPr/>
        </p:nvSpPr>
        <p:spPr>
          <a:xfrm>
            <a:off x="731520" y="1280160"/>
            <a:ext cx="10698480" cy="5029200"/>
          </a:xfrm>
          <a:prstGeom prst="rect">
            <a:avLst/>
          </a:prstGeom>
          <a:solidFill>
            <a:srgbClr val="F2F2F2"/>
          </a:solidFill>
          <a:ln w="12700">
            <a:solidFill>
              <a:srgbClr val="CCCCCC"/>
            </a:solidFill>
            <a:prstDash val="solid"/>
          </a:ln>
        </p:spPr>
      </p:sp>
      <p:sp>
        <p:nvSpPr>
          <p:cNvPr id="5" name="Text 3"/>
          <p:cNvSpPr/>
          <p:nvPr/>
        </p:nvSpPr>
        <p:spPr>
          <a:xfrm>
            <a:off x="731520" y="4023360"/>
            <a:ext cx="10698480" cy="365760"/>
          </a:xfrm>
          <a:prstGeom prst="rect">
            <a:avLst/>
          </a:prstGeom>
          <a:noFill/>
          <a:ln/>
        </p:spPr>
        <p:txBody>
          <a:bodyPr wrap="square" rtlCol="0" anchor="ctr"/>
          <a:lstStyle/>
          <a:p>
            <a:pPr marL="0" indent="0" algn="ctr">
              <a:buNone/>
            </a:pPr>
            <a:r>
              <a:rPr lang="en-US" sz="1200" i="1" dirty="0">
                <a:solidFill>
                  <a:srgbClr val="666666"/>
                </a:solidFill>
              </a:rPr>
              <a:t>Page 2: Return vs risk scatter, fund scorecard, NAV vs benchmark</a:t>
            </a:r>
            <a:endParaRPr lang="en-US" sz="1200" dirty="0"/>
          </a:p>
        </p:txBody>
      </p:sp>
      <p:pic>
        <p:nvPicPr>
          <p:cNvPr id="7" name="Picture 6">
            <a:extLst>
              <a:ext uri="{FF2B5EF4-FFF2-40B4-BE49-F238E27FC236}">
                <a16:creationId xmlns:a16="http://schemas.microsoft.com/office/drawing/2014/main" id="{7C54970C-AD13-C6F1-0DEE-97DA0CE37B36}"/>
              </a:ext>
            </a:extLst>
          </p:cNvPr>
          <p:cNvPicPr>
            <a:picLocks noChangeAspect="1"/>
          </p:cNvPicPr>
          <p:nvPr/>
        </p:nvPicPr>
        <p:blipFill>
          <a:blip r:embed="rId3"/>
          <a:stretch>
            <a:fillRect/>
          </a:stretch>
        </p:blipFill>
        <p:spPr>
          <a:xfrm>
            <a:off x="685800" y="1280160"/>
            <a:ext cx="10698480" cy="5029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A21D62-3AF8-E279-3897-82AF856052F9}"/>
              </a:ext>
            </a:extLst>
          </p:cNvPr>
          <p:cNvPicPr>
            <a:picLocks noChangeAspect="1"/>
          </p:cNvPicPr>
          <p:nvPr/>
        </p:nvPicPr>
        <p:blipFill>
          <a:blip r:embed="rId2"/>
          <a:stretch>
            <a:fillRect/>
          </a:stretch>
        </p:blipFill>
        <p:spPr>
          <a:xfrm>
            <a:off x="391886" y="950346"/>
            <a:ext cx="11430000" cy="5506438"/>
          </a:xfrm>
          <a:prstGeom prst="rect">
            <a:avLst/>
          </a:prstGeom>
        </p:spPr>
      </p:pic>
      <p:sp>
        <p:nvSpPr>
          <p:cNvPr id="4" name="TextBox 3">
            <a:extLst>
              <a:ext uri="{FF2B5EF4-FFF2-40B4-BE49-F238E27FC236}">
                <a16:creationId xmlns:a16="http://schemas.microsoft.com/office/drawing/2014/main" id="{7F98E8E1-64D8-9402-A36F-46A6A51CBDB5}"/>
              </a:ext>
            </a:extLst>
          </p:cNvPr>
          <p:cNvSpPr txBox="1"/>
          <p:nvPr/>
        </p:nvSpPr>
        <p:spPr>
          <a:xfrm>
            <a:off x="485192" y="335902"/>
            <a:ext cx="3396343" cy="400110"/>
          </a:xfrm>
          <a:prstGeom prst="rect">
            <a:avLst/>
          </a:prstGeom>
          <a:noFill/>
        </p:spPr>
        <p:txBody>
          <a:bodyPr wrap="square" rtlCol="0">
            <a:spAutoFit/>
          </a:bodyPr>
          <a:lstStyle/>
          <a:p>
            <a:r>
              <a:rPr lang="en-IN" sz="2000" b="1" dirty="0"/>
              <a:t>Dashboard - Investor Analytics</a:t>
            </a:r>
          </a:p>
        </p:txBody>
      </p:sp>
    </p:spTree>
    <p:extLst>
      <p:ext uri="{BB962C8B-B14F-4D97-AF65-F5344CB8AC3E}">
        <p14:creationId xmlns:p14="http://schemas.microsoft.com/office/powerpoint/2010/main" val="1518538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3E9D2-5B93-AAB3-485D-5EFA8D6A0A7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642668-C56E-01D0-4825-8236572408A3}"/>
              </a:ext>
            </a:extLst>
          </p:cNvPr>
          <p:cNvSpPr txBox="1"/>
          <p:nvPr/>
        </p:nvSpPr>
        <p:spPr>
          <a:xfrm>
            <a:off x="485192" y="335902"/>
            <a:ext cx="3396343" cy="369332"/>
          </a:xfrm>
          <a:prstGeom prst="rect">
            <a:avLst/>
          </a:prstGeom>
          <a:noFill/>
        </p:spPr>
        <p:txBody>
          <a:bodyPr wrap="square" rtlCol="0">
            <a:spAutoFit/>
          </a:bodyPr>
          <a:lstStyle/>
          <a:p>
            <a:r>
              <a:rPr lang="en-IN" b="1" dirty="0"/>
              <a:t>Dashboard - SIP &amp; Market Trends</a:t>
            </a:r>
          </a:p>
        </p:txBody>
      </p:sp>
      <p:pic>
        <p:nvPicPr>
          <p:cNvPr id="5" name="Picture 4">
            <a:extLst>
              <a:ext uri="{FF2B5EF4-FFF2-40B4-BE49-F238E27FC236}">
                <a16:creationId xmlns:a16="http://schemas.microsoft.com/office/drawing/2014/main" id="{725D58D6-97E2-6DF5-A18E-B7ED9BADFAD4}"/>
              </a:ext>
            </a:extLst>
          </p:cNvPr>
          <p:cNvPicPr>
            <a:picLocks noChangeAspect="1"/>
          </p:cNvPicPr>
          <p:nvPr/>
        </p:nvPicPr>
        <p:blipFill>
          <a:blip r:embed="rId2"/>
          <a:stretch>
            <a:fillRect/>
          </a:stretch>
        </p:blipFill>
        <p:spPr>
          <a:xfrm>
            <a:off x="485192" y="736012"/>
            <a:ext cx="11336693" cy="5851399"/>
          </a:xfrm>
          <a:prstGeom prst="rect">
            <a:avLst/>
          </a:prstGeom>
        </p:spPr>
      </p:pic>
    </p:spTree>
    <p:extLst>
      <p:ext uri="{BB962C8B-B14F-4D97-AF65-F5344CB8AC3E}">
        <p14:creationId xmlns:p14="http://schemas.microsoft.com/office/powerpoint/2010/main" val="2920597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800" b="1" dirty="0">
                <a:solidFill>
                  <a:srgbClr val="1A1A1A"/>
                </a:solidFill>
              </a:rPr>
              <a:t>Key Findings</a:t>
            </a:r>
            <a:endParaRPr lang="en-US" sz="2800" dirty="0"/>
          </a:p>
        </p:txBody>
      </p:sp>
      <p:sp>
        <p:nvSpPr>
          <p:cNvPr id="3" name="Text 1"/>
          <p:cNvSpPr/>
          <p:nvPr/>
        </p:nvSpPr>
        <p:spPr>
          <a:xfrm>
            <a:off x="640080" y="1280160"/>
            <a:ext cx="10789920" cy="457200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rPr>
              <a:t>SBI Mutual Fund holds the largest AUM share among all 10 fund houses tracked</a:t>
            </a:r>
            <a:endParaRPr lang="en-US" sz="1600" dirty="0"/>
          </a:p>
          <a:p>
            <a:pPr marL="342900" indent="-342900">
              <a:spcAft>
                <a:spcPts val="1200"/>
              </a:spcAft>
              <a:buSzPct val="100000"/>
              <a:buChar char="•"/>
            </a:pPr>
            <a:r>
              <a:rPr lang="en-US" sz="1600" dirty="0">
                <a:solidFill>
                  <a:srgbClr val="1A1A1A"/>
                </a:solidFill>
              </a:rPr>
              <a:t>Industry AUM roughly doubled from Rs 3M Cr to over Rs 6M Cr between 2022 and 2025</a:t>
            </a:r>
            <a:endParaRPr lang="en-US" sz="1600" dirty="0"/>
          </a:p>
          <a:p>
            <a:pPr marL="342900" indent="-342900">
              <a:spcAft>
                <a:spcPts val="1200"/>
              </a:spcAft>
              <a:buSzPct val="100000"/>
              <a:buChar char="•"/>
            </a:pPr>
            <a:r>
              <a:rPr lang="en-US" sz="1600" dirty="0">
                <a:solidFill>
                  <a:srgbClr val="1A1A1A"/>
                </a:solidFill>
              </a:rPr>
              <a:t>Lumpsum investments make up the largest share of transaction value (58.5%), followed by Redemptions (35.3%), with SIP the smallest share (6.2%)</a:t>
            </a:r>
            <a:endParaRPr lang="en-US" sz="1600" dirty="0"/>
          </a:p>
          <a:p>
            <a:pPr marL="342900" indent="-342900">
              <a:spcAft>
                <a:spcPts val="1200"/>
              </a:spcAft>
              <a:buSzPct val="100000"/>
              <a:buChar char="•"/>
            </a:pPr>
            <a:r>
              <a:rPr lang="en-US" sz="1600" dirty="0">
                <a:solidFill>
                  <a:srgbClr val="1A1A1A"/>
                </a:solidFill>
              </a:rPr>
              <a:t>Investors aged 26-35 invest the highest average SIP amount, with contribution declining across older age groups</a:t>
            </a:r>
            <a:endParaRPr lang="en-US" sz="1600" dirty="0"/>
          </a:p>
          <a:p>
            <a:pPr marL="342900" indent="-342900">
              <a:spcAft>
                <a:spcPts val="1200"/>
              </a:spcAft>
              <a:buSzPct val="100000"/>
              <a:buChar char="•"/>
            </a:pPr>
            <a:r>
              <a:rPr lang="en-US" sz="1600" dirty="0">
                <a:solidFill>
                  <a:srgbClr val="1A1A1A"/>
                </a:solidFill>
              </a:rPr>
              <a:t>Punjab, Tamil Nadu, and Madhya Pradesh lead in total transaction amount by state, indicating strong regional concentration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4B2E9E"/>
        </a:solidFill>
        <a:effectLst/>
      </p:bgPr>
    </p:bg>
    <p:spTree>
      <p:nvGrpSpPr>
        <p:cNvPr id="1" name=""/>
        <p:cNvGrpSpPr/>
        <p:nvPr/>
      </p:nvGrpSpPr>
      <p:grpSpPr>
        <a:xfrm>
          <a:off x="0" y="0"/>
          <a:ext cx="0" cy="0"/>
          <a:chOff x="0" y="0"/>
          <a:chExt cx="0" cy="0"/>
        </a:xfrm>
      </p:grpSpPr>
      <p:sp>
        <p:nvSpPr>
          <p:cNvPr id="2" name="Text 0"/>
          <p:cNvSpPr/>
          <p:nvPr/>
        </p:nvSpPr>
        <p:spPr>
          <a:xfrm>
            <a:off x="640080" y="2560320"/>
            <a:ext cx="10972800" cy="914400"/>
          </a:xfrm>
          <a:prstGeom prst="rect">
            <a:avLst/>
          </a:prstGeom>
          <a:noFill/>
          <a:ln/>
        </p:spPr>
        <p:txBody>
          <a:bodyPr wrap="square" rtlCol="0" anchor="ctr"/>
          <a:lstStyle/>
          <a:p>
            <a:pPr marL="0" indent="0">
              <a:buNone/>
            </a:pPr>
            <a:r>
              <a:rPr lang="en-US" sz="4000" b="1" dirty="0">
                <a:solidFill>
                  <a:srgbClr val="FFFFFF"/>
                </a:solidFill>
              </a:rPr>
              <a:t>Thank You</a:t>
            </a:r>
            <a:endParaRPr lang="en-US" sz="4000" dirty="0"/>
          </a:p>
        </p:txBody>
      </p:sp>
      <p:sp>
        <p:nvSpPr>
          <p:cNvPr id="3" name="Text 1"/>
          <p:cNvSpPr/>
          <p:nvPr/>
        </p:nvSpPr>
        <p:spPr>
          <a:xfrm>
            <a:off x="640080" y="3474720"/>
            <a:ext cx="10972800" cy="548640"/>
          </a:xfrm>
          <a:prstGeom prst="rect">
            <a:avLst/>
          </a:prstGeom>
          <a:noFill/>
          <a:ln/>
        </p:spPr>
        <p:txBody>
          <a:bodyPr wrap="square" rtlCol="0" anchor="ctr"/>
          <a:lstStyle/>
          <a:p>
            <a:pPr marL="0" indent="0">
              <a:buNone/>
            </a:pPr>
            <a:r>
              <a:rPr lang="en-US" sz="1800" dirty="0">
                <a:solidFill>
                  <a:srgbClr val="FFFFFF"/>
                </a:solidFill>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490</Words>
  <Application>Microsoft Office PowerPoint</Application>
  <PresentationFormat>Widescreen</PresentationFormat>
  <Paragraphs>60</Paragraphs>
  <Slides>14</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Kankala Srinivas</cp:lastModifiedBy>
  <cp:revision>2</cp:revision>
  <dcterms:created xsi:type="dcterms:W3CDTF">2026-08-18T00:08:10Z</dcterms:created>
  <dcterms:modified xsi:type="dcterms:W3CDTF">2026-08-19T23:58:56Z</dcterms:modified>
</cp:coreProperties>
</file>